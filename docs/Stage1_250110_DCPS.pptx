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797675" cy="9926625"/>
  <p:embeddedFontLst>
    <p:embeddedFont>
      <p:font typeface="PT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88FWi06DgFlbqdYbPba0ruuoL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Sans-regular.fntdata"/><Relationship Id="rId14" Type="http://schemas.openxmlformats.org/officeDocument/2006/relationships/slide" Target="slides/slide10.xml"/><Relationship Id="rId17" Type="http://schemas.openxmlformats.org/officeDocument/2006/relationships/font" Target="fonts/PTSans-italic.fntdata"/><Relationship Id="rId16" Type="http://schemas.openxmlformats.org/officeDocument/2006/relationships/font" Target="fonts/PTSans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T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494f9d35b_0_0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2494f9d35b_0_0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494f9d35b_0_9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2494f9d35b_0_9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494f9d35b_1_2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2494f9d35b_1_2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494f9d35b_1_23:notes"/>
          <p:cNvSpPr txBox="1"/>
          <p:nvPr>
            <p:ph idx="1" type="body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2494f9d35b_1_23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folie1">
  <p:cSld name="1_Titelfolie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/>
        </p:nvSpPr>
        <p:spPr>
          <a:xfrm>
            <a:off x="-142501" y="6481327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828C96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326571" y="2228578"/>
            <a:ext cx="6853691" cy="1036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2F53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2" type="body"/>
          </p:nvPr>
        </p:nvSpPr>
        <p:spPr>
          <a:xfrm>
            <a:off x="326571" y="3996101"/>
            <a:ext cx="36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D2F53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type="ctrTitle"/>
          </p:nvPr>
        </p:nvSpPr>
        <p:spPr>
          <a:xfrm>
            <a:off x="326570" y="573155"/>
            <a:ext cx="10137379" cy="1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2F53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Aufzählung">
  <p:cSld name="4_Aufzählung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34962" y="1292399"/>
            <a:ext cx="11520000" cy="487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3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26" name="Google Shape;26;p16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74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3"/>
          <p:cNvSpPr txBox="1"/>
          <p:nvPr>
            <p:ph idx="10" type="dt"/>
          </p:nvPr>
        </p:nvSpPr>
        <p:spPr>
          <a:xfrm>
            <a:off x="648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1" type="ftr"/>
          </p:nvPr>
        </p:nvSpPr>
        <p:spPr>
          <a:xfrm>
            <a:off x="648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-142501" y="6481327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Bild">
  <p:cSld name="11_Bild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4"/>
          <p:cNvSpPr/>
          <p:nvPr>
            <p:ph idx="2" type="pic"/>
          </p:nvPr>
        </p:nvSpPr>
        <p:spPr>
          <a:xfrm>
            <a:off x="334962" y="1292400"/>
            <a:ext cx="11520000" cy="48744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4"/>
          <p:cNvSpPr txBox="1"/>
          <p:nvPr>
            <p:ph idx="3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40" name="Google Shape;40;p14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Aufzählung mit Zwischenüberschrift">
  <p:cSld name="7_Aufzählung mit Zwischenüberschrif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7"/>
          <p:cNvSpPr txBox="1"/>
          <p:nvPr>
            <p:ph idx="2" type="body"/>
          </p:nvPr>
        </p:nvSpPr>
        <p:spPr>
          <a:xfrm>
            <a:off x="334961" y="1292400"/>
            <a:ext cx="115200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92819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7"/>
          <p:cNvSpPr txBox="1"/>
          <p:nvPr>
            <p:ph idx="3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48" name="Google Shape;48;p17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elfolie2">
  <p:cSld name="2_Titelfolie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type="ctrTitle"/>
          </p:nvPr>
        </p:nvSpPr>
        <p:spPr>
          <a:xfrm>
            <a:off x="326570" y="573155"/>
            <a:ext cx="10137379" cy="1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2F53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326571" y="2228578"/>
            <a:ext cx="6853691" cy="1036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2F53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326571" y="3996101"/>
            <a:ext cx="36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D2F53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5F8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8"/>
          <p:cNvSpPr/>
          <p:nvPr>
            <p:ph idx="3" type="pic"/>
          </p:nvPr>
        </p:nvSpPr>
        <p:spPr>
          <a:xfrm>
            <a:off x="7180264" y="2228850"/>
            <a:ext cx="4685166" cy="370541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74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leeres">
  <p:cSld name="5_leere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58" name="Google Shape;58;p19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" name="Google Shape;59;p19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leeres Layout mit Literatur">
  <p:cSld name="6_leeres Layout mit Literatu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0"/>
          <p:cNvSpPr txBox="1"/>
          <p:nvPr>
            <p:ph idx="2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65" name="Google Shape;65;p20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Diagramm mit Erläuterung">
  <p:cSld name="8_Diagramm mit Erläuterung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334962" y="1292400"/>
            <a:ext cx="1152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Noto Sans Symbols"/>
              <a:buChar char="⮚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Courier New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1"/>
          <p:cNvSpPr/>
          <p:nvPr>
            <p:ph idx="2" type="chart"/>
          </p:nvPr>
        </p:nvSpPr>
        <p:spPr>
          <a:xfrm>
            <a:off x="334962" y="1706400"/>
            <a:ext cx="11520000" cy="4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21"/>
          <p:cNvSpPr txBox="1"/>
          <p:nvPr>
            <p:ph idx="3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1"/>
          <p:cNvSpPr txBox="1"/>
          <p:nvPr>
            <p:ph idx="4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74" name="Google Shape;74;p21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abelle mit Erläuterung">
  <p:cSld name="9_Tabelle mit Erläuterung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334962" y="1292400"/>
            <a:ext cx="1152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Noto Sans Symbols"/>
              <a:buChar char="⮚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Courier New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22"/>
          <p:cNvSpPr txBox="1"/>
          <p:nvPr>
            <p:ph idx="2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22"/>
          <p:cNvSpPr/>
          <p:nvPr>
            <p:ph idx="3" type="tbl"/>
          </p:nvPr>
        </p:nvSpPr>
        <p:spPr>
          <a:xfrm>
            <a:off x="334962" y="1707665"/>
            <a:ext cx="11520000" cy="445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2"/>
          <p:cNvSpPr txBox="1"/>
          <p:nvPr>
            <p:ph idx="4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83" name="Google Shape;83;p22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große Tabelle">
  <p:cSld name="10_große Tabel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/>
          <p:nvPr>
            <p:ph idx="2" type="tbl"/>
          </p:nvPr>
        </p:nvSpPr>
        <p:spPr>
          <a:xfrm>
            <a:off x="334962" y="1292400"/>
            <a:ext cx="115200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3"/>
          <p:cNvSpPr txBox="1"/>
          <p:nvPr>
            <p:ph idx="3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91" name="Google Shape;91;p23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23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Bild mit Erläuterung">
  <p:cSld name="12_Bild mit Erläuterung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-142501" y="6481327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334962" y="1292400"/>
            <a:ext cx="11520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Noto Sans Symbols"/>
              <a:buChar char="⮚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Courier New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5F8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8" name="Google Shape;98;p24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24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3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4"/>
          <p:cNvSpPr/>
          <p:nvPr>
            <p:ph idx="4" type="pic"/>
          </p:nvPr>
        </p:nvSpPr>
        <p:spPr>
          <a:xfrm>
            <a:off x="334962" y="1707449"/>
            <a:ext cx="11520000" cy="44647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Bild mit Zwischenüberschrift">
  <p:cSld name="13_Bild mit Zwischenüberschrif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334800" y="1292400"/>
            <a:ext cx="11520000" cy="843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2819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3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5"/>
          <p:cNvSpPr/>
          <p:nvPr>
            <p:ph idx="4" type="pic"/>
          </p:nvPr>
        </p:nvSpPr>
        <p:spPr>
          <a:xfrm>
            <a:off x="334800" y="2149232"/>
            <a:ext cx="11520000" cy="400191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109" name="Google Shape;109;p25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5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2 Inhalte">
  <p:cSld name="14_2 Inhalt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34800" y="1292400"/>
            <a:ext cx="54000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6454962" y="1292400"/>
            <a:ext cx="54000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6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118" name="Google Shape;118;p26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2 Inhalte">
  <p:cSld name="15_2 Inhalt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7"/>
          <p:cNvSpPr txBox="1"/>
          <p:nvPr>
            <p:ph idx="2" type="body"/>
          </p:nvPr>
        </p:nvSpPr>
        <p:spPr>
          <a:xfrm>
            <a:off x="334800" y="1292400"/>
            <a:ext cx="54000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7"/>
          <p:cNvSpPr txBox="1"/>
          <p:nvPr>
            <p:ph idx="3" type="body"/>
          </p:nvPr>
        </p:nvSpPr>
        <p:spPr>
          <a:xfrm>
            <a:off x="6454800" y="1292400"/>
            <a:ext cx="54000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7"/>
          <p:cNvSpPr txBox="1"/>
          <p:nvPr>
            <p:ph idx="4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127" name="Google Shape;127;p27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27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letzte Seite">
  <p:cSld name="16_letzte Seit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idx="1" type="body"/>
          </p:nvPr>
        </p:nvSpPr>
        <p:spPr>
          <a:xfrm>
            <a:off x="334961" y="444600"/>
            <a:ext cx="10040992" cy="35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D2F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Foto &#10;" id="132" name="Google Shape;132;p28"/>
          <p:cNvSpPr/>
          <p:nvPr>
            <p:ph idx="2" type="pic"/>
          </p:nvPr>
        </p:nvSpPr>
        <p:spPr>
          <a:xfrm>
            <a:off x="392149" y="1344801"/>
            <a:ext cx="673100" cy="6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28"/>
          <p:cNvSpPr txBox="1"/>
          <p:nvPr>
            <p:ph idx="3" type="body"/>
          </p:nvPr>
        </p:nvSpPr>
        <p:spPr>
          <a:xfrm>
            <a:off x="1438275" y="1344613"/>
            <a:ext cx="7954963" cy="29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Foto &#10;" id="134" name="Google Shape;134;p28"/>
          <p:cNvSpPr/>
          <p:nvPr>
            <p:ph idx="4" type="pic"/>
          </p:nvPr>
        </p:nvSpPr>
        <p:spPr>
          <a:xfrm>
            <a:off x="392149" y="2533021"/>
            <a:ext cx="673100" cy="6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28"/>
          <p:cNvSpPr txBox="1"/>
          <p:nvPr>
            <p:ph idx="5" type="body"/>
          </p:nvPr>
        </p:nvSpPr>
        <p:spPr>
          <a:xfrm>
            <a:off x="1438275" y="2532833"/>
            <a:ext cx="7954963" cy="298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Umschlag Silhouette" id="136" name="Google Shape;13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00965" y="1643692"/>
            <a:ext cx="394855" cy="394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lefon Silhouette" id="137" name="Google Shape;1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7156" y="28002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lefon Silhouette" id="138" name="Google Shape;1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7156" y="161251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schlag Silhouette" id="139" name="Google Shape;13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00965" y="2831419"/>
            <a:ext cx="394855" cy="3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/>
          <p:nvPr>
            <p:ph idx="6" type="body"/>
          </p:nvPr>
        </p:nvSpPr>
        <p:spPr>
          <a:xfrm>
            <a:off x="1912446" y="2861164"/>
            <a:ext cx="3017002" cy="331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7" type="body"/>
          </p:nvPr>
        </p:nvSpPr>
        <p:spPr>
          <a:xfrm>
            <a:off x="5661327" y="2861164"/>
            <a:ext cx="3017002" cy="331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8" type="body"/>
          </p:nvPr>
        </p:nvSpPr>
        <p:spPr>
          <a:xfrm>
            <a:off x="1912446" y="1673802"/>
            <a:ext cx="3017002" cy="331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9" type="body"/>
          </p:nvPr>
        </p:nvSpPr>
        <p:spPr>
          <a:xfrm>
            <a:off x="5661327" y="1673802"/>
            <a:ext cx="3017002" cy="331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145" name="Google Shape;145;p28"/>
          <p:cNvCxnSpPr/>
          <p:nvPr/>
        </p:nvCxnSpPr>
        <p:spPr>
          <a:xfrm rot="10800000">
            <a:off x="648000" y="6534000"/>
            <a:ext cx="0" cy="259200"/>
          </a:xfrm>
          <a:prstGeom prst="straightConnector1">
            <a:avLst/>
          </a:prstGeom>
          <a:noFill/>
          <a:ln cap="flat" cmpd="sng" w="12700">
            <a:solidFill>
              <a:srgbClr val="828C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28"/>
          <p:cNvSpPr txBox="1"/>
          <p:nvPr>
            <p:ph idx="10" type="dt"/>
          </p:nvPr>
        </p:nvSpPr>
        <p:spPr>
          <a:xfrm>
            <a:off x="684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1" type="ftr"/>
          </p:nvPr>
        </p:nvSpPr>
        <p:spPr>
          <a:xfrm>
            <a:off x="684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0" type="dt"/>
          </p:nvPr>
        </p:nvSpPr>
        <p:spPr>
          <a:xfrm>
            <a:off x="648000" y="6534000"/>
            <a:ext cx="27432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1" type="ftr"/>
          </p:nvPr>
        </p:nvSpPr>
        <p:spPr>
          <a:xfrm>
            <a:off x="648000" y="6685200"/>
            <a:ext cx="7389019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-142501" y="6481327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28C96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3" name="Google Shape;13;p12"/>
          <p:cNvPicPr preferRelativeResize="0"/>
          <p:nvPr/>
        </p:nvPicPr>
        <p:blipFill rotWithShape="1">
          <a:blip r:embed="rId1">
            <a:alphaModFix/>
          </a:blip>
          <a:srcRect b="48359" l="36350" r="36065" t="43863"/>
          <a:stretch/>
        </p:blipFill>
        <p:spPr>
          <a:xfrm>
            <a:off x="10820505" y="6481328"/>
            <a:ext cx="1036534" cy="292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2"/>
          <p:cNvPicPr preferRelativeResize="0"/>
          <p:nvPr/>
        </p:nvPicPr>
        <p:blipFill rotWithShape="1">
          <a:blip r:embed="rId2">
            <a:alphaModFix/>
          </a:blip>
          <a:srcRect b="92113" l="66088" r="25354" t="4618"/>
          <a:stretch/>
        </p:blipFill>
        <p:spPr>
          <a:xfrm>
            <a:off x="10732297" y="160009"/>
            <a:ext cx="1124741" cy="607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 txBox="1"/>
          <p:nvPr/>
        </p:nvSpPr>
        <p:spPr>
          <a:xfrm rot="-5400000">
            <a:off x="9527912" y="3331220"/>
            <a:ext cx="5089217" cy="23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C96"/>
              </a:buClr>
              <a:buSzPts val="800"/>
              <a:buFont typeface="Arial"/>
              <a:buNone/>
            </a:pPr>
            <a:r>
              <a:rPr b="0" i="0" lang="de-DE" sz="800" u="none" cap="none" strike="noStrike">
                <a:solidFill>
                  <a:srgbClr val="828C96"/>
                </a:solidFill>
                <a:latin typeface="Arial"/>
                <a:ea typeface="Arial"/>
                <a:cs typeface="Arial"/>
                <a:sym typeface="Arial"/>
              </a:rPr>
              <a:t>© RPTU in Kaiserslautern: Diese Unterlagen sind nur für Lehrzwecke und interne Verwendung bestimmt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7033" y="2578656"/>
            <a:ext cx="7772401" cy="356823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"/>
          <p:cNvSpPr txBox="1"/>
          <p:nvPr>
            <p:ph idx="1" type="body"/>
          </p:nvPr>
        </p:nvSpPr>
        <p:spPr>
          <a:xfrm>
            <a:off x="326571" y="2228578"/>
            <a:ext cx="6853800" cy="10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300">
                <a:solidFill>
                  <a:srgbClr val="042C58"/>
                </a:solidFill>
              </a:rPr>
              <a:t>Development of a Digital Twin for a Robotic Paper Plane Production 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D2F53"/>
              </a:buClr>
              <a:buSzPts val="1800"/>
              <a:buFont typeface="Noto Sans Symbols"/>
              <a:buNone/>
            </a:pPr>
            <a:r>
              <a:rPr lang="de-DE"/>
              <a:t>Kaiserslautern, 29.12.2024</a:t>
            </a:r>
            <a:endParaRPr/>
          </a:p>
        </p:txBody>
      </p:sp>
      <p:sp>
        <p:nvSpPr>
          <p:cNvPr id="154" name="Google Shape;154;p1"/>
          <p:cNvSpPr txBox="1"/>
          <p:nvPr>
            <p:ph idx="2" type="body"/>
          </p:nvPr>
        </p:nvSpPr>
        <p:spPr>
          <a:xfrm>
            <a:off x="250056" y="6146900"/>
            <a:ext cx="9210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2F53"/>
              </a:buClr>
              <a:buSzPts val="1800"/>
              <a:buNone/>
            </a:pPr>
            <a:r>
              <a:rPr lang="de-DE"/>
              <a:t>Lukas | Hakim </a:t>
            </a:r>
            <a:endParaRPr/>
          </a:p>
        </p:txBody>
      </p:sp>
      <p:sp>
        <p:nvSpPr>
          <p:cNvPr id="155" name="Google Shape;155;p1"/>
          <p:cNvSpPr txBox="1"/>
          <p:nvPr>
            <p:ph type="ctrTitle"/>
          </p:nvPr>
        </p:nvSpPr>
        <p:spPr>
          <a:xfrm>
            <a:off x="326576" y="573150"/>
            <a:ext cx="115065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3700">
                <a:solidFill>
                  <a:srgbClr val="042C58"/>
                </a:solidFill>
              </a:rPr>
              <a:t>Design of Cyber-Physical Systems in Manufacturing</a:t>
            </a:r>
            <a:endParaRPr sz="3700">
              <a:solidFill>
                <a:srgbClr val="042C5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D2F53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>
            <p:ph idx="2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 txBox="1"/>
          <p:nvPr>
            <p:ph idx="3" type="body"/>
          </p:nvPr>
        </p:nvSpPr>
        <p:spPr>
          <a:xfrm>
            <a:off x="334961" y="444600"/>
            <a:ext cx="10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-457200" lvl="0" marL="55880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de-DE"/>
              <a:t>3D Model in Simscape : Baseplate</a:t>
            </a:r>
            <a:endParaRPr/>
          </a:p>
        </p:txBody>
      </p:sp>
      <p:sp>
        <p:nvSpPr>
          <p:cNvPr id="162" name="Google Shape;162;p4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1249" y="1244833"/>
            <a:ext cx="6451900" cy="395368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 txBox="1"/>
          <p:nvPr/>
        </p:nvSpPr>
        <p:spPr>
          <a:xfrm>
            <a:off x="728699" y="1094941"/>
            <a:ext cx="27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idx="2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 txBox="1"/>
          <p:nvPr>
            <p:ph idx="3" type="body"/>
          </p:nvPr>
        </p:nvSpPr>
        <p:spPr>
          <a:xfrm>
            <a:off x="334961" y="444600"/>
            <a:ext cx="10040992" cy="52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-457200" lvl="0" marL="55880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de-DE"/>
              <a:t>3D Model in Simscape : Moving Components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98" y="2244722"/>
            <a:ext cx="2696980" cy="16526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/>
        </p:nvSpPr>
        <p:spPr>
          <a:xfrm>
            <a:off x="728698" y="1094941"/>
            <a:ext cx="696302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de-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Rollers: Roller 1, Roller 2; Roller 3; Roller 4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de-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Flippers: Flipper py; Flipper 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de-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endParaRPr/>
          </a:p>
        </p:txBody>
      </p:sp>
      <p:pic>
        <p:nvPicPr>
          <p:cNvPr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9294" y="2199876"/>
            <a:ext cx="4249057" cy="2739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494f9d35b_0_0"/>
          <p:cNvSpPr txBox="1"/>
          <p:nvPr>
            <p:ph idx="2" type="body"/>
          </p:nvPr>
        </p:nvSpPr>
        <p:spPr>
          <a:xfrm>
            <a:off x="334962" y="6167121"/>
            <a:ext cx="11520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0" name="Google Shape;180;g32494f9d35b_0_0"/>
          <p:cNvSpPr txBox="1"/>
          <p:nvPr>
            <p:ph idx="3" type="body"/>
          </p:nvPr>
        </p:nvSpPr>
        <p:spPr>
          <a:xfrm>
            <a:off x="334961" y="444600"/>
            <a:ext cx="10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</a:pPr>
            <a:r>
              <a:rPr lang="de-DE"/>
              <a:t>Overview Simulation: Folding Step 1</a:t>
            </a:r>
            <a:endParaRPr/>
          </a:p>
        </p:txBody>
      </p:sp>
      <p:sp>
        <p:nvSpPr>
          <p:cNvPr id="181" name="Google Shape;181;g32494f9d35b_0_0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82" name="Google Shape;182;g32494f9d35b_0_0"/>
          <p:cNvSpPr txBox="1"/>
          <p:nvPr/>
        </p:nvSpPr>
        <p:spPr>
          <a:xfrm>
            <a:off x="728699" y="1094941"/>
            <a:ext cx="4475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2494f9d35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493" y="913200"/>
            <a:ext cx="6813453" cy="519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494f9d35b_0_9"/>
          <p:cNvSpPr txBox="1"/>
          <p:nvPr>
            <p:ph idx="2" type="body"/>
          </p:nvPr>
        </p:nvSpPr>
        <p:spPr>
          <a:xfrm>
            <a:off x="334962" y="6167121"/>
            <a:ext cx="11520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g32494f9d35b_0_9"/>
          <p:cNvSpPr txBox="1"/>
          <p:nvPr>
            <p:ph idx="3" type="body"/>
          </p:nvPr>
        </p:nvSpPr>
        <p:spPr>
          <a:xfrm>
            <a:off x="334961" y="444600"/>
            <a:ext cx="10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</a:pPr>
            <a:r>
              <a:rPr lang="de-DE"/>
              <a:t>Overview Simulation: Base Plate with Coordinate Systems</a:t>
            </a:r>
            <a:endParaRPr/>
          </a:p>
        </p:txBody>
      </p:sp>
      <p:sp>
        <p:nvSpPr>
          <p:cNvPr id="190" name="Google Shape;190;g32494f9d35b_0_9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91" name="Google Shape;191;g32494f9d35b_0_9"/>
          <p:cNvSpPr txBox="1"/>
          <p:nvPr/>
        </p:nvSpPr>
        <p:spPr>
          <a:xfrm>
            <a:off x="728699" y="1094941"/>
            <a:ext cx="4475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2494f9d35b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525" y="880587"/>
            <a:ext cx="9402238" cy="525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/>
          <p:nvPr>
            <p:ph idx="2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 txBox="1"/>
          <p:nvPr>
            <p:ph idx="3" type="body"/>
          </p:nvPr>
        </p:nvSpPr>
        <p:spPr>
          <a:xfrm>
            <a:off x="334961" y="444600"/>
            <a:ext cx="10040992" cy="52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</a:pPr>
            <a:r>
              <a:rPr lang="de-DE"/>
              <a:t>Motor Simulation: Folding Step 1</a:t>
            </a:r>
            <a:endParaRPr/>
          </a:p>
        </p:txBody>
      </p:sp>
      <p:sp>
        <p:nvSpPr>
          <p:cNvPr id="199" name="Google Shape;199;p7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728699" y="1094941"/>
            <a:ext cx="44754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</a:pPr>
            <a:r>
              <a:rPr b="1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Matlab Function Block:</a:t>
            </a:r>
            <a:endParaRPr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</a:pPr>
            <a:r>
              <a:rPr b="1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9014" y="218927"/>
            <a:ext cx="5166570" cy="5012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94" y="4993494"/>
            <a:ext cx="6157801" cy="1050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7"/>
          <p:cNvCxnSpPr/>
          <p:nvPr/>
        </p:nvCxnSpPr>
        <p:spPr>
          <a:xfrm flipH="1">
            <a:off x="4705750" y="4658800"/>
            <a:ext cx="3268800" cy="56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494f9d35b_1_2"/>
          <p:cNvSpPr txBox="1"/>
          <p:nvPr>
            <p:ph idx="2" type="body"/>
          </p:nvPr>
        </p:nvSpPr>
        <p:spPr>
          <a:xfrm>
            <a:off x="334962" y="6167121"/>
            <a:ext cx="11520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9" name="Google Shape;209;g32494f9d35b_1_2"/>
          <p:cNvSpPr txBox="1"/>
          <p:nvPr>
            <p:ph idx="3" type="body"/>
          </p:nvPr>
        </p:nvSpPr>
        <p:spPr>
          <a:xfrm>
            <a:off x="334961" y="444600"/>
            <a:ext cx="10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2286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</a:pPr>
            <a:r>
              <a:rPr lang="de-DE"/>
              <a:t>Simulation: Transportation of the Paper </a:t>
            </a:r>
            <a:endParaRPr/>
          </a:p>
        </p:txBody>
      </p:sp>
      <p:sp>
        <p:nvSpPr>
          <p:cNvPr id="210" name="Google Shape;210;g32494f9d35b_1_2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1" name="Google Shape;211;g32494f9d35b_1_2"/>
          <p:cNvSpPr txBox="1"/>
          <p:nvPr/>
        </p:nvSpPr>
        <p:spPr>
          <a:xfrm>
            <a:off x="728701" y="1094950"/>
            <a:ext cx="9778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</a:pPr>
            <a:r>
              <a:rPr lang="de-DE" sz="2000"/>
              <a:t>Focus on important parts: Behaviour between rollers, paper and the base plate.</a:t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de-DE" sz="2000"/>
              <a:t>Simulate various scenarios (e.g. angled sheet of paper -&gt; paper could get stuck)</a:t>
            </a:r>
            <a:endParaRPr sz="2000"/>
          </a:p>
        </p:txBody>
      </p:sp>
      <p:pic>
        <p:nvPicPr>
          <p:cNvPr id="212" name="Google Shape;212;g32494f9d35b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324" y="3039425"/>
            <a:ext cx="6683102" cy="233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494f9d35b_1_23"/>
          <p:cNvSpPr txBox="1"/>
          <p:nvPr>
            <p:ph idx="2" type="body"/>
          </p:nvPr>
        </p:nvSpPr>
        <p:spPr>
          <a:xfrm>
            <a:off x="334962" y="6167121"/>
            <a:ext cx="11520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8" name="Google Shape;218;g32494f9d35b_1_23"/>
          <p:cNvSpPr txBox="1"/>
          <p:nvPr>
            <p:ph idx="3" type="body"/>
          </p:nvPr>
        </p:nvSpPr>
        <p:spPr>
          <a:xfrm>
            <a:off x="334961" y="444600"/>
            <a:ext cx="10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2286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</a:pPr>
            <a:r>
              <a:rPr lang="de-DE"/>
              <a:t>Simulation: Input needed </a:t>
            </a:r>
            <a:endParaRPr/>
          </a:p>
        </p:txBody>
      </p:sp>
      <p:sp>
        <p:nvSpPr>
          <p:cNvPr id="219" name="Google Shape;219;g32494f9d35b_1_23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20" name="Google Shape;220;g32494f9d35b_1_23"/>
          <p:cNvSpPr txBox="1"/>
          <p:nvPr/>
        </p:nvSpPr>
        <p:spPr>
          <a:xfrm>
            <a:off x="728701" y="1094950"/>
            <a:ext cx="9778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de-DE" sz="2000"/>
              <a:t>Roller design and parameters </a:t>
            </a:r>
            <a:endParaRPr sz="2000"/>
          </a:p>
          <a:p>
            <a:pPr indent="-355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de-DE" sz="2000"/>
              <a:t>weight of the roller</a:t>
            </a:r>
            <a:endParaRPr sz="2000"/>
          </a:p>
          <a:p>
            <a:pPr indent="-355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de-DE" sz="2000"/>
              <a:t>dimensions</a:t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de-DE" sz="2000"/>
              <a:t>width </a:t>
            </a:r>
            <a:r>
              <a:rPr lang="de-DE" sz="2000"/>
              <a:t>of space between the roller-holders (picture on the right)</a:t>
            </a:r>
            <a:endParaRPr sz="2000"/>
          </a:p>
          <a:p>
            <a:pPr indent="-355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de-DE" sz="2000"/>
              <a:t>also for the “bridge” of the robot if it is different</a:t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de-DE" sz="2000"/>
              <a:t>frictional coefficients paper-roller/ paper-base plate (static/dynamic)</a:t>
            </a:r>
            <a:endParaRPr sz="2000"/>
          </a:p>
        </p:txBody>
      </p:sp>
      <p:pic>
        <p:nvPicPr>
          <p:cNvPr id="221" name="Google Shape;221;g32494f9d35b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250" y="1391225"/>
            <a:ext cx="2920701" cy="283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/>
          <p:nvPr/>
        </p:nvSpPr>
        <p:spPr>
          <a:xfrm rot="5400000">
            <a:off x="971878" y="166437"/>
            <a:ext cx="1016279" cy="211592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3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5131" y="920371"/>
            <a:ext cx="2638545" cy="16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33"/>
          <p:cNvGrpSpPr/>
          <p:nvPr/>
        </p:nvGrpSpPr>
        <p:grpSpPr>
          <a:xfrm>
            <a:off x="168925" y="2822793"/>
            <a:ext cx="2712300" cy="548640"/>
            <a:chOff x="-1188300" y="4400056"/>
            <a:chExt cx="2712300" cy="548640"/>
          </a:xfrm>
        </p:grpSpPr>
        <p:sp>
          <p:nvSpPr>
            <p:cNvPr id="231" name="Google Shape;231;p33"/>
            <p:cNvSpPr/>
            <p:nvPr/>
          </p:nvSpPr>
          <p:spPr>
            <a:xfrm>
              <a:off x="-1188300" y="4400056"/>
              <a:ext cx="2322576" cy="225552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609600" y="4625608"/>
              <a:ext cx="914400" cy="323088"/>
            </a:xfrm>
            <a:prstGeom prst="rect">
              <a:avLst/>
            </a:prstGeom>
            <a:solidFill>
              <a:srgbClr val="613F0C">
                <a:alpha val="67058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33"/>
          <p:cNvGrpSpPr/>
          <p:nvPr/>
        </p:nvGrpSpPr>
        <p:grpSpPr>
          <a:xfrm>
            <a:off x="3967153" y="709999"/>
            <a:ext cx="2322576" cy="1147012"/>
            <a:chOff x="231648" y="4408200"/>
            <a:chExt cx="2322576" cy="1147012"/>
          </a:xfrm>
        </p:grpSpPr>
        <p:grpSp>
          <p:nvGrpSpPr>
            <p:cNvPr id="234" name="Google Shape;234;p33"/>
            <p:cNvGrpSpPr/>
            <p:nvPr/>
          </p:nvGrpSpPr>
          <p:grpSpPr>
            <a:xfrm>
              <a:off x="231648" y="4408200"/>
              <a:ext cx="2322576" cy="1147012"/>
              <a:chOff x="609600" y="3826361"/>
              <a:chExt cx="2322576" cy="1147012"/>
            </a:xfrm>
          </p:grpSpPr>
          <p:sp>
            <p:nvSpPr>
              <p:cNvPr id="235" name="Google Shape;235;p33"/>
              <p:cNvSpPr/>
              <p:nvPr/>
            </p:nvSpPr>
            <p:spPr>
              <a:xfrm>
                <a:off x="609600" y="3826361"/>
                <a:ext cx="914400" cy="598372"/>
              </a:xfrm>
              <a:prstGeom prst="rect">
                <a:avLst/>
              </a:prstGeom>
              <a:solidFill>
                <a:srgbClr val="3F3F3F"/>
              </a:solidFill>
              <a:ln cap="flat" cmpd="sng" w="25400">
                <a:solidFill>
                  <a:srgbClr val="000D2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3"/>
              <p:cNvSpPr/>
              <p:nvPr/>
            </p:nvSpPr>
            <p:spPr>
              <a:xfrm>
                <a:off x="609600" y="4424733"/>
                <a:ext cx="2322576" cy="225552"/>
              </a:xfrm>
              <a:prstGeom prst="rect">
                <a:avLst/>
              </a:prstGeom>
              <a:solidFill>
                <a:srgbClr val="A5A5A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33"/>
              <p:cNvSpPr/>
              <p:nvPr/>
            </p:nvSpPr>
            <p:spPr>
              <a:xfrm>
                <a:off x="609600" y="4650285"/>
                <a:ext cx="914400" cy="323088"/>
              </a:xfrm>
              <a:prstGeom prst="rect">
                <a:avLst/>
              </a:prstGeom>
              <a:solidFill>
                <a:srgbClr val="613F0C">
                  <a:alpha val="67058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p33"/>
            <p:cNvGrpSpPr/>
            <p:nvPr/>
          </p:nvGrpSpPr>
          <p:grpSpPr>
            <a:xfrm>
              <a:off x="1639824" y="4408200"/>
              <a:ext cx="914400" cy="1147012"/>
              <a:chOff x="609600" y="3826361"/>
              <a:chExt cx="914400" cy="1147012"/>
            </a:xfrm>
          </p:grpSpPr>
          <p:sp>
            <p:nvSpPr>
              <p:cNvPr id="239" name="Google Shape;239;p33"/>
              <p:cNvSpPr/>
              <p:nvPr/>
            </p:nvSpPr>
            <p:spPr>
              <a:xfrm>
                <a:off x="609600" y="3826361"/>
                <a:ext cx="914400" cy="598372"/>
              </a:xfrm>
              <a:prstGeom prst="rect">
                <a:avLst/>
              </a:prstGeom>
              <a:solidFill>
                <a:srgbClr val="3F3F3F"/>
              </a:solidFill>
              <a:ln cap="flat" cmpd="sng" w="25400">
                <a:solidFill>
                  <a:srgbClr val="000D2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33"/>
              <p:cNvSpPr/>
              <p:nvPr/>
            </p:nvSpPr>
            <p:spPr>
              <a:xfrm>
                <a:off x="609600" y="4650285"/>
                <a:ext cx="914400" cy="323088"/>
              </a:xfrm>
              <a:prstGeom prst="rect">
                <a:avLst/>
              </a:prstGeom>
              <a:solidFill>
                <a:srgbClr val="613F0C">
                  <a:alpha val="67058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1" name="Google Shape;241;p33"/>
          <p:cNvSpPr/>
          <p:nvPr/>
        </p:nvSpPr>
        <p:spPr>
          <a:xfrm rot="5400000">
            <a:off x="2337923" y="771019"/>
            <a:ext cx="400110" cy="312907"/>
          </a:xfrm>
          <a:prstGeom prst="rect">
            <a:avLst/>
          </a:prstGeom>
          <a:solidFill>
            <a:srgbClr val="3F3F3F"/>
          </a:solidFill>
          <a:ln cap="flat" cmpd="sng" w="25400">
            <a:solidFill>
              <a:srgbClr val="000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3"/>
          <p:cNvSpPr/>
          <p:nvPr/>
        </p:nvSpPr>
        <p:spPr>
          <a:xfrm rot="5400000">
            <a:off x="2337923" y="1344714"/>
            <a:ext cx="400110" cy="312908"/>
          </a:xfrm>
          <a:prstGeom prst="rect">
            <a:avLst/>
          </a:prstGeom>
          <a:solidFill>
            <a:srgbClr val="3F3F3F"/>
          </a:solidFill>
          <a:ln cap="flat" cmpd="sng" w="25400">
            <a:solidFill>
              <a:srgbClr val="000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1966825" y="1883716"/>
            <a:ext cx="914400" cy="9144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168925" y="3624796"/>
            <a:ext cx="741145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Friction Coefficient between paper and floor : µ</a:t>
            </a:r>
            <a:r>
              <a:rPr b="0" baseline="-25000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Friction Coefficient between roller and paper : µ</a:t>
            </a:r>
            <a:r>
              <a:rPr b="0" baseline="-25000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>
            <p:ph idx="2" type="body"/>
          </p:nvPr>
        </p:nvSpPr>
        <p:spPr>
          <a:xfrm>
            <a:off x="334962" y="6167121"/>
            <a:ext cx="11520000" cy="189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>
            <p:ph idx="3" type="body"/>
          </p:nvPr>
        </p:nvSpPr>
        <p:spPr>
          <a:xfrm>
            <a:off x="334961" y="444600"/>
            <a:ext cx="10040992" cy="52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-228600" lvl="0" marL="457200" marR="0" rtl="0" algn="l">
              <a:lnSpc>
                <a:spcPct val="83333"/>
              </a:lnSpc>
              <a:spcBef>
                <a:spcPts val="1000"/>
              </a:spcBef>
              <a:spcAft>
                <a:spcPts val="0"/>
              </a:spcAft>
              <a:buClr>
                <a:srgbClr val="1D2F53"/>
              </a:buClr>
              <a:buSzPts val="2400"/>
              <a:buFont typeface="Arial"/>
              <a:buNone/>
            </a:pPr>
            <a:r>
              <a:rPr lang="de-DE"/>
              <a:t>Parameters needed from UT: Folding Step 1</a:t>
            </a:r>
            <a:endParaRPr/>
          </a:p>
        </p:txBody>
      </p:sp>
      <p:sp>
        <p:nvSpPr>
          <p:cNvPr id="251" name="Google Shape;251;p11"/>
          <p:cNvSpPr txBox="1"/>
          <p:nvPr>
            <p:ph idx="12" type="sldNum"/>
          </p:nvPr>
        </p:nvSpPr>
        <p:spPr>
          <a:xfrm>
            <a:off x="-142501" y="6480000"/>
            <a:ext cx="871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728699" y="1094941"/>
            <a:ext cx="44754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</a:pPr>
            <a:r>
              <a:rPr b="1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Parameter Verification</a:t>
            </a:r>
            <a:endParaRPr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</a:pPr>
            <a:r>
              <a:rPr b="0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Verify that the parameters used in the simulation accurately represent the physical system:</a:t>
            </a:r>
            <a:endParaRPr/>
          </a:p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1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Motor Parameters</a:t>
            </a:r>
            <a:r>
              <a:rPr b="0" i="0" lang="de-D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Measure or refer to the motor's datasheet for: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de-D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Torque constant kt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de-D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 EMF constant ke​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de-D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Resistance R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de-D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Inductance 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de-D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Inertia Jm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039" y="2120265"/>
            <a:ext cx="6511209" cy="3528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enutzerdefiniertes Design">
  <a:themeElements>
    <a:clrScheme name="Benutzerdefiniert 3">
      <a:dk1>
        <a:srgbClr val="000000"/>
      </a:dk1>
      <a:lt1>
        <a:srgbClr val="FFFFFF"/>
      </a:lt1>
      <a:dk2>
        <a:srgbClr val="C00000"/>
      </a:dk2>
      <a:lt2>
        <a:srgbClr val="002060"/>
      </a:lt2>
      <a:accent1>
        <a:srgbClr val="002060"/>
      </a:accent1>
      <a:accent2>
        <a:srgbClr val="00B0F0"/>
      </a:accent2>
      <a:accent3>
        <a:srgbClr val="C00000"/>
      </a:accent3>
      <a:accent4>
        <a:srgbClr val="000000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2019-08-06T10:30:44Z</dcterms:created>
  <dc:creator>Peter Eisenhauer</dc:creator>
</cp:coreProperties>
</file>